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1"/>
  </p:sldMasterIdLst>
  <p:sldIdLst>
    <p:sldId id="257" r:id="rId2"/>
    <p:sldId id="258" r:id="rId3"/>
    <p:sldId id="270" r:id="rId4"/>
    <p:sldId id="259" r:id="rId5"/>
    <p:sldId id="276" r:id="rId6"/>
    <p:sldId id="275" r:id="rId7"/>
    <p:sldId id="271" r:id="rId8"/>
    <p:sldId id="272" r:id="rId9"/>
    <p:sldId id="273" r:id="rId10"/>
    <p:sldId id="260" r:id="rId11"/>
    <p:sldId id="261" r:id="rId12"/>
    <p:sldId id="262" r:id="rId13"/>
    <p:sldId id="263" r:id="rId14"/>
    <p:sldId id="264" r:id="rId15"/>
    <p:sldId id="266" r:id="rId16"/>
    <p:sldId id="267"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69385" autoAdjust="0"/>
  </p:normalViewPr>
  <p:slideViewPr>
    <p:cSldViewPr snapToGrid="0">
      <p:cViewPr varScale="1">
        <p:scale>
          <a:sx n="40" d="100"/>
          <a:sy n="40" d="100"/>
        </p:scale>
        <p:origin x="1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3B1CB3-E849-4656-AF7A-DBCE49BA5715}" type="datetimeFigureOut">
              <a:rPr lang="en-IN" smtClean="0"/>
              <a:t>23-01-2023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1CF61A03-A61C-49B0-8A22-DEAFD23EE92E}"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1046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3B1CB3-E849-4656-AF7A-DBCE49BA5715}" type="datetimeFigureOut">
              <a:rPr lang="en-IN" smtClean="0"/>
              <a:t>23-01-2023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1A03-A61C-49B0-8A22-DEAFD23EE92E}"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9232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3B1CB3-E849-4656-AF7A-DBCE49BA5715}" type="datetimeFigureOut">
              <a:rPr lang="en-IN" smtClean="0"/>
              <a:t>23-01-2023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1A03-A61C-49B0-8A22-DEAFD23EE92E}"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3958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3B1CB3-E849-4656-AF7A-DBCE49BA5715}" type="datetimeFigureOut">
              <a:rPr lang="en-IN" smtClean="0"/>
              <a:t>23-01-2023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1A03-A61C-49B0-8A22-DEAFD23EE92E}"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9634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3B1CB3-E849-4656-AF7A-DBCE49BA5715}" type="datetimeFigureOut">
              <a:rPr lang="en-IN" smtClean="0"/>
              <a:t>23-01-2023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61A03-A61C-49B0-8A22-DEAFD23EE92E}"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9834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3B1CB3-E849-4656-AF7A-DBCE49BA5715}" type="datetimeFigureOut">
              <a:rPr lang="en-IN" smtClean="0"/>
              <a:t>23-01-2023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61A03-A61C-49B0-8A22-DEAFD23EE92E}"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510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3B1CB3-E849-4656-AF7A-DBCE49BA5715}" type="datetimeFigureOut">
              <a:rPr lang="en-IN" smtClean="0"/>
              <a:t>23-01-2023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CF61A03-A61C-49B0-8A22-DEAFD23EE92E}" type="slidenum">
              <a:rPr lang="en-IN" smtClean="0"/>
              <a:t>‹#›</a:t>
            </a:fld>
            <a:endParaRPr lang="en-IN"/>
          </a:p>
        </p:txBody>
      </p:sp>
    </p:spTree>
    <p:extLst>
      <p:ext uri="{BB962C8B-B14F-4D97-AF65-F5344CB8AC3E}">
        <p14:creationId xmlns:p14="http://schemas.microsoft.com/office/powerpoint/2010/main" val="2608642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3B1CB3-E849-4656-AF7A-DBCE49BA5715}" type="datetimeFigureOut">
              <a:rPr lang="en-IN" smtClean="0"/>
              <a:t>23-01-2023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1A03-A61C-49B0-8A22-DEAFD23EE92E}"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674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93B1CB3-E849-4656-AF7A-DBCE49BA5715}" type="datetimeFigureOut">
              <a:rPr lang="en-IN" smtClean="0"/>
              <a:t>23-01-2023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1CF61A03-A61C-49B0-8A22-DEAFD23EE92E}"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856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3B1CB3-E849-4656-AF7A-DBCE49BA5715}" type="datetimeFigureOut">
              <a:rPr lang="en-IN" smtClean="0"/>
              <a:t>23-01-2023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1A03-A61C-49B0-8A22-DEAFD23EE92E}"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8290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3B1CB3-E849-4656-AF7A-DBCE49BA5715}" type="datetimeFigureOut">
              <a:rPr lang="en-IN" smtClean="0"/>
              <a:t>23-01-2023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1A03-A61C-49B0-8A22-DEAFD23EE92E}"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5601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93B1CB3-E849-4656-AF7A-DBCE49BA5715}" type="datetimeFigureOut">
              <a:rPr lang="en-IN" smtClean="0"/>
              <a:t>23-01-2023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CF61A03-A61C-49B0-8A22-DEAFD23EE92E}"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8666793"/>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7EE06-59FE-E8C4-044E-F538F01F8BA4}"/>
              </a:ext>
            </a:extLst>
          </p:cNvPr>
          <p:cNvSpPr>
            <a:spLocks noGrp="1"/>
          </p:cNvSpPr>
          <p:nvPr>
            <p:ph type="title"/>
          </p:nvPr>
        </p:nvSpPr>
        <p:spPr>
          <a:xfrm>
            <a:off x="1" y="0"/>
            <a:ext cx="4798658" cy="2325949"/>
          </a:xfrm>
          <a:solidFill>
            <a:schemeClr val="tx1">
              <a:lumMod val="65000"/>
              <a:lumOff val="35000"/>
            </a:schemeClr>
          </a:solidFill>
        </p:spPr>
        <p:txBody>
          <a:bodyPr>
            <a:normAutofit/>
          </a:bodyPr>
          <a:lstStyle/>
          <a:p>
            <a:r>
              <a:rPr lang="en-IN" sz="4400" b="1" u="sng" dirty="0"/>
              <a:t>CHILD VACCINATION MANAGEMENT</a:t>
            </a:r>
          </a:p>
        </p:txBody>
      </p:sp>
      <p:pic>
        <p:nvPicPr>
          <p:cNvPr id="12" name="Picture Placeholder 11">
            <a:extLst>
              <a:ext uri="{FF2B5EF4-FFF2-40B4-BE49-F238E27FC236}">
                <a16:creationId xmlns:a16="http://schemas.microsoft.com/office/drawing/2014/main" id="{900C5514-C52F-785D-6105-7C6C4CB3CEA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944" r="25944"/>
          <a:stretch>
            <a:fillRect/>
          </a:stretch>
        </p:blipFill>
        <p:spPr/>
      </p:pic>
      <p:sp>
        <p:nvSpPr>
          <p:cNvPr id="4" name="Text Placeholder 3">
            <a:extLst>
              <a:ext uri="{FF2B5EF4-FFF2-40B4-BE49-F238E27FC236}">
                <a16:creationId xmlns:a16="http://schemas.microsoft.com/office/drawing/2014/main" id="{58D1E510-F1C4-156D-5D04-F1DED6E0B054}"/>
              </a:ext>
            </a:extLst>
          </p:cNvPr>
          <p:cNvSpPr>
            <a:spLocks noGrp="1"/>
          </p:cNvSpPr>
          <p:nvPr>
            <p:ph type="body" sz="half" idx="2"/>
          </p:nvPr>
        </p:nvSpPr>
        <p:spPr>
          <a:xfrm>
            <a:off x="-1" y="2308195"/>
            <a:ext cx="4798657" cy="4549805"/>
          </a:xfrm>
          <a:solidFill>
            <a:schemeClr val="tx1">
              <a:lumMod val="65000"/>
              <a:lumOff val="35000"/>
            </a:schemeClr>
          </a:solidFill>
        </p:spPr>
        <p:txBody>
          <a:bodyPr>
            <a:normAutofit fontScale="850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IN" sz="2400" dirty="0"/>
              <a:t>PRESENTED BY:</a:t>
            </a:r>
          </a:p>
          <a:p>
            <a:r>
              <a:rPr lang="en-IN" sz="2400" dirty="0"/>
              <a:t>			KAVYA HEGDE</a:t>
            </a:r>
          </a:p>
          <a:p>
            <a:r>
              <a:rPr lang="en-IN" sz="2400" dirty="0"/>
              <a:t>			VINODA PATIL</a:t>
            </a:r>
          </a:p>
          <a:p>
            <a:endParaRPr lang="en-IN" dirty="0"/>
          </a:p>
          <a:p>
            <a:endParaRPr lang="en-IN" dirty="0"/>
          </a:p>
          <a:p>
            <a:endParaRPr lang="en-IN" dirty="0"/>
          </a:p>
          <a:p>
            <a:endParaRPr lang="en-IN" dirty="0"/>
          </a:p>
        </p:txBody>
      </p:sp>
      <p:pic>
        <p:nvPicPr>
          <p:cNvPr id="8" name="Picture 7">
            <a:extLst>
              <a:ext uri="{FF2B5EF4-FFF2-40B4-BE49-F238E27FC236}">
                <a16:creationId xmlns:a16="http://schemas.microsoft.com/office/drawing/2014/main" id="{CF877A83-6DFA-3E75-9B71-5088A396CF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691" y="2308195"/>
            <a:ext cx="2818939" cy="2818939"/>
          </a:xfrm>
          <a:prstGeom prst="rect">
            <a:avLst/>
          </a:prstGeom>
        </p:spPr>
      </p:pic>
    </p:spTree>
    <p:extLst>
      <p:ext uri="{BB962C8B-B14F-4D97-AF65-F5344CB8AC3E}">
        <p14:creationId xmlns:p14="http://schemas.microsoft.com/office/powerpoint/2010/main" val="32883539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DA3DBD-EE78-2864-7139-13420C9E9A21}"/>
              </a:ext>
            </a:extLst>
          </p:cNvPr>
          <p:cNvSpPr txBox="1"/>
          <p:nvPr/>
        </p:nvSpPr>
        <p:spPr>
          <a:xfrm>
            <a:off x="71021" y="-35511"/>
            <a:ext cx="11878323" cy="5946243"/>
          </a:xfrm>
          <a:prstGeom prst="rect">
            <a:avLst/>
          </a:prstGeom>
          <a:noFill/>
        </p:spPr>
        <p:txBody>
          <a:bodyPr wrap="square">
            <a:spAutoFit/>
          </a:bodyPr>
          <a:lstStyle/>
          <a:p>
            <a:pPr algn="just">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N"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3600" b="1" u="sng" dirty="0">
                <a:effectLst/>
                <a:latin typeface="Calibri" panose="020F0502020204030204" pitchFamily="34" charset="0"/>
                <a:ea typeface="Calibri" panose="020F0502020204030204" pitchFamily="34" charset="0"/>
                <a:cs typeface="Times New Roman" panose="02020603050405020304" pitchFamily="18" charset="0"/>
              </a:rPr>
              <a:t>INTRODUCTION</a:t>
            </a:r>
          </a:p>
          <a:p>
            <a:pPr algn="just">
              <a:lnSpc>
                <a:spcPct val="107000"/>
              </a:lnSpc>
              <a:spcAft>
                <a:spcPts val="800"/>
              </a:spcAft>
            </a:pPr>
            <a:endParaRPr lang="en-IN" sz="3600" b="1" u="sng"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3200" dirty="0">
                <a:effectLst/>
                <a:latin typeface="Calibri" panose="020F0502020204030204" pitchFamily="34" charset="0"/>
                <a:ea typeface="Calibri" panose="020F0502020204030204" pitchFamily="34" charset="0"/>
                <a:cs typeface="Times New Roman" panose="02020603050405020304" pitchFamily="18" charset="0"/>
              </a:rPr>
              <a:t>Right from birth till the age of 12 years the child will be vulnerable to a host of diseases, viruses and bacteria at such tender age. The body of the child may not have the required immune system to protect them from the diseases so make sure that children have access to proper healthcare and immunization against diseases. this system helps parents book vaccination appointment for their children with just few clicks.</a:t>
            </a:r>
          </a:p>
        </p:txBody>
      </p:sp>
    </p:spTree>
    <p:extLst>
      <p:ext uri="{BB962C8B-B14F-4D97-AF65-F5344CB8AC3E}">
        <p14:creationId xmlns:p14="http://schemas.microsoft.com/office/powerpoint/2010/main" val="20133883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01108A1-6160-9D87-24E8-543397216E8F}"/>
              </a:ext>
            </a:extLst>
          </p:cNvPr>
          <p:cNvGraphicFramePr>
            <a:graphicFrameLocks noGrp="1"/>
          </p:cNvGraphicFramePr>
          <p:nvPr>
            <p:extLst>
              <p:ext uri="{D42A27DB-BD31-4B8C-83A1-F6EECF244321}">
                <p14:modId xmlns:p14="http://schemas.microsoft.com/office/powerpoint/2010/main" val="1338914479"/>
              </p:ext>
            </p:extLst>
          </p:nvPr>
        </p:nvGraphicFramePr>
        <p:xfrm>
          <a:off x="164386" y="-10274"/>
          <a:ext cx="11866652" cy="6822042"/>
        </p:xfrm>
        <a:graphic>
          <a:graphicData uri="http://schemas.openxmlformats.org/drawingml/2006/table">
            <a:tbl>
              <a:tblPr/>
              <a:tblGrid>
                <a:gridCol w="5716744">
                  <a:extLst>
                    <a:ext uri="{9D8B030D-6E8A-4147-A177-3AD203B41FA5}">
                      <a16:colId xmlns:a16="http://schemas.microsoft.com/office/drawing/2014/main" val="1336201809"/>
                    </a:ext>
                  </a:extLst>
                </a:gridCol>
                <a:gridCol w="6149908">
                  <a:extLst>
                    <a:ext uri="{9D8B030D-6E8A-4147-A177-3AD203B41FA5}">
                      <a16:colId xmlns:a16="http://schemas.microsoft.com/office/drawing/2014/main" val="3292630736"/>
                    </a:ext>
                  </a:extLst>
                </a:gridCol>
              </a:tblGrid>
              <a:tr h="340884">
                <a:tc>
                  <a:txBody>
                    <a:bodyPr/>
                    <a:lstStyle/>
                    <a:p>
                      <a:r>
                        <a:rPr lang="en-IN" b="0" dirty="0">
                          <a:effectLst/>
                          <a:latin typeface="var(--font-1-bold)"/>
                        </a:rPr>
                        <a:t>Birth</a:t>
                      </a:r>
                      <a:endParaRPr lang="en-IN" dirty="0">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BCG</a:t>
                      </a:r>
                      <a:r>
                        <a:rPr lang="en-IN" dirty="0">
                          <a:solidFill>
                            <a:schemeClr val="bg2"/>
                          </a:solidFill>
                          <a:effectLst/>
                        </a:rPr>
                        <a:t>,</a:t>
                      </a:r>
                      <a:r>
                        <a:rPr lang="en-IN" dirty="0">
                          <a:effectLst/>
                        </a:rPr>
                        <a:t> Hep B1, OPV</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861459392"/>
                  </a:ext>
                </a:extLst>
              </a:tr>
              <a:tr h="552194">
                <a:tc>
                  <a:txBody>
                    <a:bodyPr/>
                    <a:lstStyle/>
                    <a:p>
                      <a:r>
                        <a:rPr lang="en-IN" b="0">
                          <a:effectLst/>
                          <a:latin typeface="var(--font-1-bold)"/>
                        </a:rPr>
                        <a:t>6 weeks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DTWP /DTaP1, Hib-1, IPV-1, Hep B2, PCV 1,Rota-1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146103708"/>
                  </a:ext>
                </a:extLst>
              </a:tr>
              <a:tr h="552194">
                <a:tc>
                  <a:txBody>
                    <a:bodyPr/>
                    <a:lstStyle/>
                    <a:p>
                      <a:r>
                        <a:rPr lang="en-IN" b="0">
                          <a:effectLst/>
                          <a:latin typeface="var(--font-1-bold)"/>
                        </a:rPr>
                        <a:t>10 weeks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DTWP /DTaP2, Hib-2, IPV-2, Hep B3, PCV 2, Rota-2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13270652"/>
                  </a:ext>
                </a:extLst>
              </a:tr>
              <a:tr h="552194">
                <a:tc>
                  <a:txBody>
                    <a:bodyPr/>
                    <a:lstStyle/>
                    <a:p>
                      <a:r>
                        <a:rPr lang="en-IN" b="0">
                          <a:effectLst/>
                          <a:latin typeface="var(--font-1-bold)"/>
                        </a:rPr>
                        <a:t>14Weeks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DTWP /DTaP3, Hib-3, IPV-3, Hep B4, PCV 3, Rota-3*</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250415123"/>
                  </a:ext>
                </a:extLst>
              </a:tr>
              <a:tr h="384560">
                <a:tc>
                  <a:txBody>
                    <a:bodyPr/>
                    <a:lstStyle/>
                    <a:p>
                      <a:r>
                        <a:rPr lang="en-IN" b="0">
                          <a:effectLst/>
                          <a:latin typeface="var(--font-1-bold)"/>
                        </a:rPr>
                        <a:t>6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Influenza-1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604898"/>
                  </a:ext>
                </a:extLst>
              </a:tr>
              <a:tr h="384560">
                <a:tc>
                  <a:txBody>
                    <a:bodyPr/>
                    <a:lstStyle/>
                    <a:p>
                      <a:r>
                        <a:rPr lang="en-IN" b="0" dirty="0">
                          <a:effectLst/>
                          <a:latin typeface="var(--font-1-bold)"/>
                        </a:rPr>
                        <a:t>7 Months</a:t>
                      </a:r>
                      <a:endParaRPr lang="en-IN" dirty="0">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Influenza -2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05210867"/>
                  </a:ext>
                </a:extLst>
              </a:tr>
              <a:tr h="384560">
                <a:tc>
                  <a:txBody>
                    <a:bodyPr/>
                    <a:lstStyle/>
                    <a:p>
                      <a:r>
                        <a:rPr lang="en-IN" b="0">
                          <a:effectLst/>
                          <a:latin typeface="var(--font-1-bold)"/>
                        </a:rPr>
                        <a:t>6 – 9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a:effectLst/>
                        </a:rPr>
                        <a:t>Typhoid Conjugate Vaccine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372084743"/>
                  </a:ext>
                </a:extLst>
              </a:tr>
              <a:tr h="384560">
                <a:tc>
                  <a:txBody>
                    <a:bodyPr/>
                    <a:lstStyle/>
                    <a:p>
                      <a:r>
                        <a:rPr lang="en-IN" b="0">
                          <a:effectLst/>
                          <a:latin typeface="var(--font-1-bold)"/>
                        </a:rPr>
                        <a:t>9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US" dirty="0">
                          <a:effectLst/>
                        </a:rPr>
                        <a:t>MMR 1 (Mumps, measles, Rubella)</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396753153"/>
                  </a:ext>
                </a:extLst>
              </a:tr>
              <a:tr h="384560">
                <a:tc>
                  <a:txBody>
                    <a:bodyPr/>
                    <a:lstStyle/>
                    <a:p>
                      <a:r>
                        <a:rPr lang="en-IN" b="0">
                          <a:effectLst/>
                          <a:latin typeface="var(--font-1-bold)"/>
                        </a:rPr>
                        <a:t>12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a:effectLst/>
                        </a:rPr>
                        <a:t>Hepatitis A- 1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381645672"/>
                  </a:ext>
                </a:extLst>
              </a:tr>
              <a:tr h="384560">
                <a:tc>
                  <a:txBody>
                    <a:bodyPr/>
                    <a:lstStyle/>
                    <a:p>
                      <a:r>
                        <a:rPr lang="en-IN" b="0">
                          <a:effectLst/>
                          <a:latin typeface="var(--font-1-bold)"/>
                        </a:rPr>
                        <a:t>12 – 15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a:effectLst/>
                        </a:rPr>
                        <a:t>PCV Booster</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323273954"/>
                  </a:ext>
                </a:extLst>
              </a:tr>
              <a:tr h="384560">
                <a:tc>
                  <a:txBody>
                    <a:bodyPr/>
                    <a:lstStyle/>
                    <a:p>
                      <a:r>
                        <a:rPr lang="en-IN" b="0">
                          <a:effectLst/>
                          <a:latin typeface="var(--font-1-bold)"/>
                        </a:rPr>
                        <a:t>15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MMR 2, Varicella</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849757261"/>
                  </a:ext>
                </a:extLst>
              </a:tr>
              <a:tr h="384560">
                <a:tc>
                  <a:txBody>
                    <a:bodyPr/>
                    <a:lstStyle/>
                    <a:p>
                      <a:r>
                        <a:rPr lang="en-IN" b="0">
                          <a:effectLst/>
                          <a:latin typeface="var(--font-1-bold)"/>
                        </a:rPr>
                        <a:t>16 – 18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err="1">
                          <a:effectLst/>
                        </a:rPr>
                        <a:t>DTwP</a:t>
                      </a:r>
                      <a:r>
                        <a:rPr lang="en-IN" dirty="0">
                          <a:effectLst/>
                        </a:rPr>
                        <a:t> /DTaP, Hib, IPV</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4794048"/>
                  </a:ext>
                </a:extLst>
              </a:tr>
              <a:tr h="384560">
                <a:tc>
                  <a:txBody>
                    <a:bodyPr/>
                    <a:lstStyle/>
                    <a:p>
                      <a:r>
                        <a:rPr lang="en-IN" b="0">
                          <a:effectLst/>
                          <a:latin typeface="var(--font-1-bold)"/>
                        </a:rPr>
                        <a:t>18 – 19 Months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it-IT" dirty="0">
                          <a:effectLst/>
                        </a:rPr>
                        <a:t>Hepatitis A- 2**, Varicella 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496086646"/>
                  </a:ext>
                </a:extLst>
              </a:tr>
              <a:tr h="340884">
                <a:tc>
                  <a:txBody>
                    <a:bodyPr/>
                    <a:lstStyle/>
                    <a:p>
                      <a:r>
                        <a:rPr lang="en-IN" b="0">
                          <a:effectLst/>
                          <a:latin typeface="var(--font-1-bold)"/>
                        </a:rPr>
                        <a:t>4 – 6 years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err="1">
                          <a:effectLst/>
                        </a:rPr>
                        <a:t>DTwP</a:t>
                      </a:r>
                      <a:r>
                        <a:rPr lang="en-IN" dirty="0">
                          <a:effectLst/>
                        </a:rPr>
                        <a:t> /DTaP, IPV, MMR 3</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717733989"/>
                  </a:ext>
                </a:extLst>
              </a:tr>
              <a:tr h="340884">
                <a:tc>
                  <a:txBody>
                    <a:bodyPr/>
                    <a:lstStyle/>
                    <a:p>
                      <a:r>
                        <a:rPr lang="en-IN" b="0">
                          <a:effectLst/>
                          <a:latin typeface="var(--font-1-bold)"/>
                        </a:rPr>
                        <a:t>9 – 15years (Girls)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a:effectLst/>
                        </a:rPr>
                        <a:t>HPV (2 doses)</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88784827"/>
                  </a:ext>
                </a:extLst>
              </a:tr>
              <a:tr h="340884">
                <a:tc>
                  <a:txBody>
                    <a:bodyPr/>
                    <a:lstStyle/>
                    <a:p>
                      <a:r>
                        <a:rPr lang="en-IN" b="0">
                          <a:effectLst/>
                          <a:latin typeface="var(--font-1-bold)"/>
                        </a:rPr>
                        <a:t>10 – 12 Years</a:t>
                      </a:r>
                      <a:endParaRPr lang="en-IN">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Tdap/ Td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002059"/>
                  </a:ext>
                </a:extLst>
              </a:tr>
              <a:tr h="340884">
                <a:tc>
                  <a:txBody>
                    <a:bodyPr/>
                    <a:lstStyle/>
                    <a:p>
                      <a:r>
                        <a:rPr lang="en-US" b="0">
                          <a:effectLst/>
                          <a:latin typeface="var(--font-1-bold)"/>
                        </a:rPr>
                        <a:t>2nd, 3rd, 4th and 5th Year</a:t>
                      </a:r>
                      <a:endParaRPr lang="en-US">
                        <a:effectLst/>
                      </a:endParaRP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tc>
                  <a:txBody>
                    <a:bodyPr/>
                    <a:lstStyle/>
                    <a:p>
                      <a:r>
                        <a:rPr lang="en-IN" dirty="0">
                          <a:effectLst/>
                        </a:rPr>
                        <a:t>Annual Influenza Vaccine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645250143"/>
                  </a:ext>
                </a:extLst>
              </a:tr>
            </a:tbl>
          </a:graphicData>
        </a:graphic>
      </p:graphicFrame>
    </p:spTree>
    <p:extLst>
      <p:ext uri="{BB962C8B-B14F-4D97-AF65-F5344CB8AC3E}">
        <p14:creationId xmlns:p14="http://schemas.microsoft.com/office/powerpoint/2010/main" val="22325903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FFCDAE-A18F-FB12-89A8-49C7391CCA8B}"/>
              </a:ext>
            </a:extLst>
          </p:cNvPr>
          <p:cNvSpPr>
            <a:spLocks noGrp="1"/>
          </p:cNvSpPr>
          <p:nvPr>
            <p:ph sz="half" idx="2"/>
          </p:nvPr>
        </p:nvSpPr>
        <p:spPr>
          <a:xfrm>
            <a:off x="5847830" y="0"/>
            <a:ext cx="6344170" cy="6747029"/>
          </a:xfrm>
        </p:spPr>
        <p:txBody>
          <a:bodyPr/>
          <a:lstStyle/>
          <a:p>
            <a:pPr marL="0" indent="0">
              <a:buNone/>
            </a:pPr>
            <a:endParaRPr lang="en-IN" b="1" u="sng" dirty="0"/>
          </a:p>
          <a:p>
            <a:pPr marL="0" indent="0">
              <a:buNone/>
            </a:pPr>
            <a:r>
              <a:rPr lang="en-IN" b="1" dirty="0"/>
              <a:t>     		</a:t>
            </a:r>
            <a:r>
              <a:rPr lang="en-IN" b="1" u="sng" dirty="0"/>
              <a:t>OBJECTIVE:</a:t>
            </a:r>
          </a:p>
          <a:p>
            <a:pPr marL="0" indent="0">
              <a:buNone/>
            </a:pPr>
            <a:endParaRPr lang="en-IN" b="1" u="sng" dirty="0"/>
          </a:p>
          <a:p>
            <a:r>
              <a:rPr lang="en-IN" sz="2800" dirty="0"/>
              <a:t>This website is   provides the user easily they can book the vaccine schedule for their child</a:t>
            </a:r>
          </a:p>
          <a:p>
            <a:r>
              <a:rPr lang="en-IN" sz="2800" dirty="0"/>
              <a:t>The user is allowed to interact with the hospital    for their queries </a:t>
            </a:r>
          </a:p>
          <a:p>
            <a:r>
              <a:rPr lang="en-IN" sz="2800" dirty="0"/>
              <a:t>The complete information about the vaccines are provided.</a:t>
            </a:r>
          </a:p>
          <a:p>
            <a:r>
              <a:rPr lang="en-IN" sz="2800" dirty="0"/>
              <a:t>The parents can easily view their child next vaccine schedule here.</a:t>
            </a:r>
          </a:p>
          <a:p>
            <a:pPr marL="0" indent="0">
              <a:buNone/>
            </a:pPr>
            <a:endParaRPr lang="en-IN" dirty="0"/>
          </a:p>
        </p:txBody>
      </p:sp>
      <p:pic>
        <p:nvPicPr>
          <p:cNvPr id="11" name="Content Placeholder 10">
            <a:extLst>
              <a:ext uri="{FF2B5EF4-FFF2-40B4-BE49-F238E27FC236}">
                <a16:creationId xmlns:a16="http://schemas.microsoft.com/office/drawing/2014/main" id="{DCD8D855-5D3E-DAE8-DD2E-D2A56597268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2987" y="1544052"/>
            <a:ext cx="5654843" cy="3769895"/>
          </a:xfrm>
        </p:spPr>
      </p:pic>
    </p:spTree>
    <p:extLst>
      <p:ext uri="{BB962C8B-B14F-4D97-AF65-F5344CB8AC3E}">
        <p14:creationId xmlns:p14="http://schemas.microsoft.com/office/powerpoint/2010/main" val="4440843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A4DDA1-5767-7505-6662-A91806477D8F}"/>
              </a:ext>
            </a:extLst>
          </p:cNvPr>
          <p:cNvSpPr txBox="1"/>
          <p:nvPr/>
        </p:nvSpPr>
        <p:spPr>
          <a:xfrm>
            <a:off x="0" y="0"/>
            <a:ext cx="11788345" cy="4339650"/>
          </a:xfrm>
          <a:prstGeom prst="rect">
            <a:avLst/>
          </a:prstGeom>
          <a:noFill/>
        </p:spPr>
        <p:txBody>
          <a:bodyPr wrap="square">
            <a:spAutoFit/>
          </a:bodyPr>
          <a:lstStyle/>
          <a:p>
            <a:pPr algn="just"/>
            <a:endParaRPr lang="en-US" b="0" i="0" dirty="0">
              <a:solidFill>
                <a:srgbClr val="333333"/>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                                                                 </a:t>
            </a:r>
            <a:r>
              <a:rPr lang="en-US" sz="4800" b="1" dirty="0">
                <a:solidFill>
                  <a:srgbClr val="333333"/>
                </a:solidFill>
                <a:latin typeface="Open Sans" panose="020B0606030504020204" pitchFamily="34" charset="0"/>
              </a:rPr>
              <a:t>E</a:t>
            </a:r>
            <a:r>
              <a:rPr lang="en-US" sz="4800" b="1" i="0" dirty="0">
                <a:solidFill>
                  <a:srgbClr val="333333"/>
                </a:solidFill>
                <a:effectLst/>
                <a:latin typeface="Open Sans" panose="020B0606030504020204" pitchFamily="34" charset="0"/>
              </a:rPr>
              <a:t>xisting </a:t>
            </a:r>
            <a:r>
              <a:rPr lang="en-US" sz="4800" b="1" dirty="0">
                <a:solidFill>
                  <a:srgbClr val="333333"/>
                </a:solidFill>
                <a:latin typeface="Open Sans" panose="020B0606030504020204" pitchFamily="34" charset="0"/>
              </a:rPr>
              <a:t>S</a:t>
            </a:r>
            <a:r>
              <a:rPr lang="en-US" sz="4800" b="1" i="0" dirty="0">
                <a:solidFill>
                  <a:srgbClr val="333333"/>
                </a:solidFill>
                <a:effectLst/>
                <a:latin typeface="Open Sans" panose="020B0606030504020204" pitchFamily="34" charset="0"/>
              </a:rPr>
              <a:t>ystem</a:t>
            </a:r>
          </a:p>
          <a:p>
            <a:pPr algn="just"/>
            <a:endParaRPr lang="en-US" b="1" i="0" dirty="0">
              <a:solidFill>
                <a:srgbClr val="333333"/>
              </a:solidFill>
              <a:effectLst/>
              <a:latin typeface="Open Sans" panose="020B0606030504020204" pitchFamily="34" charset="0"/>
            </a:endParaRPr>
          </a:p>
          <a:p>
            <a:pPr algn="just"/>
            <a:r>
              <a:rPr lang="en-US" sz="2400" b="0" i="0" dirty="0">
                <a:solidFill>
                  <a:srgbClr val="333333"/>
                </a:solidFill>
                <a:effectLst/>
                <a:latin typeface="Open Sans" panose="020B0606030504020204" pitchFamily="34" charset="0"/>
              </a:rPr>
              <a:t>Several types of Immunization cards are in use today. Following are a few examples : </a:t>
            </a:r>
          </a:p>
          <a:p>
            <a:pPr algn="just"/>
            <a:r>
              <a:rPr lang="en-US" sz="2400" b="1" i="0" dirty="0">
                <a:solidFill>
                  <a:srgbClr val="333333"/>
                </a:solidFill>
                <a:effectLst/>
                <a:latin typeface="Open Sans" panose="020B0606030504020204" pitchFamily="34" charset="0"/>
              </a:rPr>
              <a:t>BMC provided immunization card:</a:t>
            </a:r>
            <a:br>
              <a:rPr lang="en-US" sz="2400" b="0" i="0" dirty="0">
                <a:solidFill>
                  <a:srgbClr val="333333"/>
                </a:solidFill>
                <a:effectLst/>
                <a:latin typeface="Open Sans" panose="020B0606030504020204" pitchFamily="34" charset="0"/>
              </a:rPr>
            </a:br>
            <a:r>
              <a:rPr lang="en-US" sz="2400" b="0" i="0" dirty="0">
                <a:solidFill>
                  <a:srgbClr val="333333"/>
                </a:solidFill>
                <a:effectLst/>
                <a:latin typeface="Open Sans" panose="020B0606030504020204" pitchFamily="34" charset="0"/>
              </a:rPr>
              <a:t>For each child Government provides two immunization cards -</a:t>
            </a:r>
            <a:br>
              <a:rPr lang="en-US" sz="2400" b="0" i="0" dirty="0">
                <a:solidFill>
                  <a:srgbClr val="333333"/>
                </a:solidFill>
                <a:effectLst/>
                <a:latin typeface="Open Sans" panose="020B0606030504020204" pitchFamily="34" charset="0"/>
              </a:rPr>
            </a:br>
            <a:r>
              <a:rPr lang="en-US" sz="2400" b="0" i="0" dirty="0">
                <a:solidFill>
                  <a:srgbClr val="333333"/>
                </a:solidFill>
                <a:effectLst/>
                <a:latin typeface="Open Sans" panose="020B0606030504020204" pitchFamily="34" charset="0"/>
              </a:rPr>
              <a:t>• One card for a home-based immunization record carried by parents and</a:t>
            </a:r>
            <a:br>
              <a:rPr lang="en-US" sz="2400" b="0" i="0" dirty="0">
                <a:solidFill>
                  <a:srgbClr val="333333"/>
                </a:solidFill>
                <a:effectLst/>
                <a:latin typeface="Open Sans" panose="020B0606030504020204" pitchFamily="34" charset="0"/>
              </a:rPr>
            </a:br>
            <a:r>
              <a:rPr lang="en-US" sz="2400" b="0" i="0" dirty="0">
                <a:solidFill>
                  <a:srgbClr val="333333"/>
                </a:solidFill>
                <a:effectLst/>
                <a:latin typeface="Open Sans" panose="020B0606030504020204" pitchFamily="34" charset="0"/>
              </a:rPr>
              <a:t>• Another card which is with doctor for the clinic side record.</a:t>
            </a:r>
          </a:p>
          <a:p>
            <a:pPr algn="just"/>
            <a:r>
              <a:rPr lang="en-US" sz="2400" b="0" i="0" dirty="0">
                <a:solidFill>
                  <a:srgbClr val="333333"/>
                </a:solidFill>
                <a:effectLst/>
                <a:latin typeface="Open Sans" panose="020B0606030504020204" pitchFamily="34" charset="0"/>
              </a:rPr>
              <a:t>At primary healthcare center which is run by the government, the procedure of immunizing the baby and entering relevant details in the immunization card takes about 10-15 minutes</a:t>
            </a:r>
            <a:endParaRPr lang="en-IN" sz="2400" dirty="0"/>
          </a:p>
        </p:txBody>
      </p:sp>
      <p:sp>
        <p:nvSpPr>
          <p:cNvPr id="5" name="TextBox 4">
            <a:extLst>
              <a:ext uri="{FF2B5EF4-FFF2-40B4-BE49-F238E27FC236}">
                <a16:creationId xmlns:a16="http://schemas.microsoft.com/office/drawing/2014/main" id="{E0126AF7-0005-2418-3824-5E9DAA75AB3B}"/>
              </a:ext>
            </a:extLst>
          </p:cNvPr>
          <p:cNvSpPr txBox="1"/>
          <p:nvPr/>
        </p:nvSpPr>
        <p:spPr>
          <a:xfrm>
            <a:off x="0" y="4339650"/>
            <a:ext cx="12090400" cy="1569660"/>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333333"/>
                </a:solidFill>
                <a:effectLst/>
                <a:latin typeface="Open Sans" panose="020B0606030504020204" pitchFamily="34" charset="0"/>
              </a:rPr>
              <a:t>In certain clinics one person immunizes the baby while other person notes immunization data onto the home-based card as well as clinic side copy. At times, due to miscalculation in date of next visit or some other error, the health-worker ends up cancelling it.</a:t>
            </a:r>
          </a:p>
        </p:txBody>
      </p:sp>
    </p:spTree>
    <p:extLst>
      <p:ext uri="{BB962C8B-B14F-4D97-AF65-F5344CB8AC3E}">
        <p14:creationId xmlns:p14="http://schemas.microsoft.com/office/powerpoint/2010/main" val="989028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D09511-DADA-1F39-7A65-0D4A2E5E9CAA}"/>
              </a:ext>
            </a:extLst>
          </p:cNvPr>
          <p:cNvSpPr txBox="1"/>
          <p:nvPr/>
        </p:nvSpPr>
        <p:spPr>
          <a:xfrm>
            <a:off x="86497" y="0"/>
            <a:ext cx="11848830" cy="6124754"/>
          </a:xfrm>
          <a:prstGeom prst="rect">
            <a:avLst/>
          </a:prstGeom>
          <a:noFill/>
        </p:spPr>
        <p:txBody>
          <a:bodyPr wrap="square">
            <a:spAutoFit/>
          </a:bodyPr>
          <a:lstStyle/>
          <a:p>
            <a:pPr marL="285750" indent="-285750" algn="just">
              <a:buFont typeface="Arial" panose="020B0604020202020204" pitchFamily="34" charset="0"/>
              <a:buChar char="•"/>
            </a:pPr>
            <a:r>
              <a:rPr lang="en-US" sz="2800" b="0" i="0" dirty="0">
                <a:solidFill>
                  <a:srgbClr val="333333"/>
                </a:solidFill>
                <a:effectLst/>
                <a:latin typeface="Open Sans" panose="020B0606030504020204" pitchFamily="34" charset="0"/>
              </a:rPr>
              <a:t>Thus cards tend to remain un-updated or not updated completely.</a:t>
            </a:r>
          </a:p>
          <a:p>
            <a:pPr marL="285750" indent="-285750" algn="just">
              <a:buFont typeface="Arial" panose="020B0604020202020204" pitchFamily="34" charset="0"/>
              <a:buChar char="•"/>
            </a:pPr>
            <a:r>
              <a:rPr lang="en-US" sz="2800" b="0" i="0" dirty="0">
                <a:solidFill>
                  <a:srgbClr val="333333"/>
                </a:solidFill>
                <a:effectLst/>
                <a:latin typeface="Open Sans" panose="020B0606030504020204" pitchFamily="34" charset="0"/>
              </a:rPr>
              <a:t>In other cases, parents forget cards or lose them. Although there is a clinic side copy of the immunization data for each child receiving free immunization under UIP, all these entries are manually made into a register and this database being physical is not easily searchable.</a:t>
            </a:r>
          </a:p>
          <a:p>
            <a:pPr marL="285750" indent="-285750" algn="just">
              <a:buFont typeface="Arial" panose="020B0604020202020204" pitchFamily="34" charset="0"/>
              <a:buChar char="•"/>
            </a:pPr>
            <a:r>
              <a:rPr lang="en-US" sz="2800" b="0" i="0" dirty="0">
                <a:solidFill>
                  <a:srgbClr val="333333"/>
                </a:solidFill>
                <a:effectLst/>
                <a:latin typeface="Open Sans" panose="020B0606030504020204" pitchFamily="34" charset="0"/>
              </a:rPr>
              <a:t>The hospital / or clinic does provide parents with a new card, sometimes against a small monetary fine. But parents are expected to recall the immunizations administered previously.</a:t>
            </a:r>
          </a:p>
          <a:p>
            <a:pPr marL="285750" indent="-285750" algn="just">
              <a:buFont typeface="Arial" panose="020B0604020202020204" pitchFamily="34" charset="0"/>
              <a:buChar char="•"/>
            </a:pPr>
            <a:r>
              <a:rPr lang="en-US" sz="2800" b="0" i="0" dirty="0">
                <a:solidFill>
                  <a:srgbClr val="333333"/>
                </a:solidFill>
                <a:effectLst/>
                <a:latin typeface="Open Sans" panose="020B0606030504020204" pitchFamily="34" charset="0"/>
              </a:rPr>
              <a:t>There is another scenario where children are brought for immunization by relatives or neighbors while the immunization card is left at home, in such cases calling someone at home and asking them what the last immunization was may not always yield relevant and accurate information, as people across varying literacy levels may not be able to read or pronounce vaccine names.</a:t>
            </a:r>
          </a:p>
        </p:txBody>
      </p:sp>
    </p:spTree>
    <p:extLst>
      <p:ext uri="{BB962C8B-B14F-4D97-AF65-F5344CB8AC3E}">
        <p14:creationId xmlns:p14="http://schemas.microsoft.com/office/powerpoint/2010/main" val="7543667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BE20BCE-3405-6D64-59E6-16D5A44EA8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054" y="112755"/>
            <a:ext cx="7620000" cy="628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2122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5908F09-08A2-6E45-7596-F78ED9A42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85750"/>
            <a:ext cx="7620000" cy="628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6251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A9881B-459B-C873-B90A-282440FBA2C6}"/>
              </a:ext>
            </a:extLst>
          </p:cNvPr>
          <p:cNvSpPr txBox="1"/>
          <p:nvPr/>
        </p:nvSpPr>
        <p:spPr>
          <a:xfrm>
            <a:off x="0" y="-2"/>
            <a:ext cx="12304295" cy="5544082"/>
          </a:xfrm>
          <a:prstGeom prst="rect">
            <a:avLst/>
          </a:prstGeom>
          <a:noFill/>
        </p:spPr>
        <p:txBody>
          <a:bodyPr wrap="square">
            <a:spAutoFit/>
          </a:bodyPr>
          <a:lstStyle/>
          <a:p>
            <a:pPr algn="just">
              <a:lnSpc>
                <a:spcPct val="115000"/>
              </a:lnSpc>
              <a:spcAft>
                <a:spcPts val="600"/>
              </a:spcAft>
            </a:pPr>
            <a:r>
              <a:rPr lang="en-US" sz="2800" b="1"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rPr>
              <a:t> </a:t>
            </a:r>
            <a:r>
              <a:rPr lang="en-US" sz="3200" b="1"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Proposed Systems:</a:t>
            </a:r>
            <a:endParaRPr lang="en-IN" sz="32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The proposed system is a web-based application that reduces the paper work.</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
            </a:pPr>
            <a:r>
              <a:rPr lang="en-IN"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The system helps to book appointments for their child’s vaccination easily.</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Wingdings" panose="05000000000000000000" pitchFamily="2" charset="2"/>
              <a:buChar char=""/>
            </a:pPr>
            <a:r>
              <a:rPr lang="en-IN"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Parents can view their updates and also their reminders for appointments. </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Wingdings" panose="05000000000000000000" pitchFamily="2" charset="2"/>
              <a:buChar char=""/>
            </a:pPr>
            <a:r>
              <a:rPr lang="en-US"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Secure access control and prevents misuse by unauthorized users.</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Wingdings" panose="05000000000000000000" pitchFamily="2" charset="2"/>
              <a:buChar char=""/>
            </a:pPr>
            <a:r>
              <a:rPr lang="en-US"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The proposed system consists of web-based GUI and provides easy access to its user.</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600"/>
              </a:spcAft>
              <a:buFont typeface="Wingdings" panose="05000000000000000000" pitchFamily="2" charset="2"/>
              <a:buChar char=""/>
            </a:pPr>
            <a:r>
              <a:rPr lang="en-US"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To create user friendly interface to operate for parents.</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Wingdings" panose="05000000000000000000" pitchFamily="2" charset="2"/>
              <a:buChar char=""/>
            </a:pPr>
            <a:r>
              <a:rPr lang="en-IN" sz="2400" dirty="0">
                <a:solidFill>
                  <a:schemeClr val="tx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Fully validated to ensure correct and error free data entry.</a:t>
            </a:r>
            <a:endParaRPr lang="en-IN" sz="2400" dirty="0">
              <a:solidFill>
                <a:schemeClr val="tx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600"/>
              </a:spcAft>
            </a:pPr>
            <a:r>
              <a:rPr lang="en-US" sz="2400" b="1"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63358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A6689-7089-C20A-C5F7-60DC2B3E81F6}"/>
              </a:ext>
            </a:extLst>
          </p:cNvPr>
          <p:cNvSpPr txBox="1"/>
          <p:nvPr/>
        </p:nvSpPr>
        <p:spPr>
          <a:xfrm>
            <a:off x="621437" y="0"/>
            <a:ext cx="11390050" cy="5832302"/>
          </a:xfrm>
          <a:prstGeom prst="rect">
            <a:avLst/>
          </a:prstGeom>
          <a:noFill/>
        </p:spPr>
        <p:txBody>
          <a:bodyPr wrap="square">
            <a:spAutoFit/>
          </a:bodyPr>
          <a:lstStyle/>
          <a:p>
            <a:pPr lvl="0" algn="just">
              <a:lnSpc>
                <a:spcPct val="107000"/>
              </a:lnSpc>
            </a:pPr>
            <a:r>
              <a:rPr lang="en-IN"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sz="36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INPUT OF THE SYSTEM:</a:t>
            </a:r>
          </a:p>
          <a:p>
            <a:pPr lvl="0" algn="just">
              <a:lnSpc>
                <a:spcPct val="107000"/>
              </a:lnSpc>
            </a:pPr>
            <a:endParaRPr lang="en-IN" sz="3600" b="1" u="sng"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lvl="0" algn="just">
              <a:lnSpc>
                <a:spcPct val="107000"/>
              </a:lnSpc>
            </a:pPr>
            <a:endParaRPr lang="en-IN" sz="36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07000"/>
              </a:lnSpc>
              <a:buFont typeface="Symbol" panose="05050102010706020507" pitchFamily="18" charset="2"/>
              <a:buChar char=""/>
            </a:pPr>
            <a:endParaRPr lang="en-IN"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The main input to the project is that the user login to the website “child vaccination” by entering the credential details and then </a:t>
            </a:r>
            <a:r>
              <a:rPr lang="en-IN" sz="3200" dirty="0">
                <a:effectLst/>
                <a:latin typeface="Calibri" panose="020F0502020204030204" pitchFamily="34" charset="0"/>
                <a:ea typeface="Calibri" panose="020F0502020204030204" pitchFamily="34" charset="0"/>
                <a:cs typeface="Times New Roman" panose="02020603050405020304" pitchFamily="18" charset="0"/>
              </a:rPr>
              <a:t>the system helps to book appointments for their child’s vaccination easily.</a:t>
            </a:r>
          </a:p>
          <a:p>
            <a:pPr marL="342900" lvl="0" indent="-342900" algn="just">
              <a:lnSpc>
                <a:spcPct val="107000"/>
              </a:lnSpc>
              <a:buFont typeface="Symbol" panose="05050102010706020507" pitchFamily="18" charset="2"/>
              <a:buChar char=""/>
            </a:pPr>
            <a:r>
              <a:rPr lang="en-IN" sz="3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Stock of the vaccine can be added.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Parents can view their updates and also their reminders for appointments</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01566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1E4713-ECD7-8F2E-3F97-753C69BCBA9F}"/>
              </a:ext>
            </a:extLst>
          </p:cNvPr>
          <p:cNvSpPr txBox="1"/>
          <p:nvPr/>
        </p:nvSpPr>
        <p:spPr>
          <a:xfrm>
            <a:off x="106532" y="106533"/>
            <a:ext cx="12085468" cy="5535811"/>
          </a:xfrm>
          <a:prstGeom prst="rect">
            <a:avLst/>
          </a:prstGeom>
          <a:noFill/>
        </p:spPr>
        <p:txBody>
          <a:bodyPr wrap="square">
            <a:spAutoFit/>
          </a:bodyPr>
          <a:lstStyle/>
          <a:p>
            <a:pPr marL="342900" lvl="0" indent="-342900">
              <a:lnSpc>
                <a:spcPct val="107000"/>
              </a:lnSpc>
              <a:buFont typeface="Symbol" panose="05050102010706020507" pitchFamily="18" charset="2"/>
              <a:buChar char=""/>
            </a:pPr>
            <a:endParaRPr lang="en-IN"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nSpc>
                <a:spcPct val="107000"/>
              </a:lnSpc>
            </a:pPr>
            <a:r>
              <a:rPr lang="en-IN"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a:t>
            </a:r>
            <a:r>
              <a:rPr lang="en-IN" sz="3600" b="1" u="sng"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OUTPUT OF THE SYSTEM:</a:t>
            </a:r>
          </a:p>
          <a:p>
            <a:pPr marL="342900" lvl="0" indent="-342900">
              <a:lnSpc>
                <a:spcPct val="107000"/>
              </a:lnSpc>
              <a:buFont typeface="Symbol" panose="05050102010706020507" pitchFamily="18" charset="2"/>
              <a:buChar char=""/>
            </a:pPr>
            <a:endParaRPr lang="en-IN"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endParaRPr lang="en-IN"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endParaRPr lang="en-IN"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This application provides a system to provide information store a record.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Help a parent’s schedule vaccination appointments for their children.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Admin will manage the child and vaccination report approval of the appointment. </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Hospital will update the status of the vaccination applied for the child. with this application, a lot of man hours can be saved</a:t>
            </a:r>
            <a:r>
              <a:rPr lang="en-IN"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0718927"/>
      </p:ext>
    </p:extLst>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70B907-DDBD-A35A-0979-BC33764DD6CE}"/>
              </a:ext>
            </a:extLst>
          </p:cNvPr>
          <p:cNvSpPr txBox="1"/>
          <p:nvPr/>
        </p:nvSpPr>
        <p:spPr>
          <a:xfrm>
            <a:off x="470516" y="577049"/>
            <a:ext cx="11878323" cy="4765151"/>
          </a:xfrm>
          <a:prstGeom prst="rect">
            <a:avLst/>
          </a:prstGeom>
          <a:noFill/>
        </p:spPr>
        <p:txBody>
          <a:bodyPr wrap="square">
            <a:spAutoFit/>
          </a:bodyPr>
          <a:lstStyle/>
          <a:p>
            <a:pPr lvl="0">
              <a:lnSpc>
                <a:spcPct val="106000"/>
              </a:lnSpc>
            </a:pPr>
            <a:r>
              <a:rPr lang="en-IN" sz="3600" b="1" i="1" u="sng" dirty="0">
                <a:effectLst/>
                <a:latin typeface="Calibri" panose="020F0502020204030204" pitchFamily="34" charset="0"/>
                <a:ea typeface="Calibri" panose="020F0502020204030204" pitchFamily="34" charset="0"/>
                <a:cs typeface="Times New Roman" panose="02020603050405020304" pitchFamily="18" charset="0"/>
              </a:rPr>
              <a:t>Advantages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6000"/>
              </a:lnSpc>
            </a:pPr>
            <a:r>
              <a:rPr lang="en-IN" sz="36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6000"/>
              </a:lnSpc>
              <a:buFont typeface="Symbol" panose="05050102010706020507" pitchFamily="18" charset="2"/>
              <a:buChar char=""/>
            </a:pPr>
            <a:r>
              <a:rPr lang="en-IN" sz="3600" dirty="0">
                <a:effectLst/>
                <a:latin typeface="Calibri" panose="020F0502020204030204" pitchFamily="34" charset="0"/>
                <a:ea typeface="Calibri" panose="020F0502020204030204" pitchFamily="34" charset="0"/>
                <a:cs typeface="Times New Roman" panose="02020603050405020304" pitchFamily="18" charset="0"/>
              </a:rPr>
              <a:t>It is easy to maintain.</a:t>
            </a:r>
          </a:p>
          <a:p>
            <a:pPr marL="342900" lvl="0" indent="-342900" algn="just">
              <a:lnSpc>
                <a:spcPct val="106000"/>
              </a:lnSpc>
              <a:buFont typeface="Symbol" panose="05050102010706020507" pitchFamily="18" charset="2"/>
              <a:buChar char=""/>
            </a:pPr>
            <a:r>
              <a:rPr lang="en-IN" sz="3600" dirty="0">
                <a:effectLst/>
                <a:latin typeface="Calibri" panose="020F0502020204030204" pitchFamily="34" charset="0"/>
                <a:ea typeface="Calibri" panose="020F0502020204030204" pitchFamily="34" charset="0"/>
                <a:cs typeface="Times New Roman" panose="02020603050405020304" pitchFamily="18" charset="0"/>
              </a:rPr>
              <a:t>It’s user-friendly.</a:t>
            </a:r>
          </a:p>
          <a:p>
            <a:pPr marL="342900" lvl="0" indent="-342900" algn="just">
              <a:lnSpc>
                <a:spcPct val="106000"/>
              </a:lnSpc>
              <a:buFont typeface="Symbol" panose="05050102010706020507" pitchFamily="18" charset="2"/>
              <a:buChar char=""/>
            </a:pPr>
            <a:r>
              <a:rPr lang="en-IN" sz="3600" dirty="0">
                <a:effectLst/>
                <a:latin typeface="Calibri" panose="020F0502020204030204" pitchFamily="34" charset="0"/>
                <a:ea typeface="Calibri" panose="020F0502020204030204" pitchFamily="34" charset="0"/>
                <a:cs typeface="Times New Roman" panose="02020603050405020304" pitchFamily="18" charset="0"/>
              </a:rPr>
              <a:t>The system helps to book appointments for their child’s vaccination easily.</a:t>
            </a:r>
          </a:p>
          <a:p>
            <a:pPr marL="342900" lvl="0" indent="-342900" algn="just">
              <a:lnSpc>
                <a:spcPct val="106000"/>
              </a:lnSpc>
              <a:spcAft>
                <a:spcPts val="800"/>
              </a:spcAft>
              <a:buFont typeface="Symbol" panose="05050102010706020507" pitchFamily="18" charset="2"/>
              <a:buChar char=""/>
            </a:pPr>
            <a:r>
              <a:rPr lang="en-IN" sz="3600" dirty="0">
                <a:effectLst/>
                <a:latin typeface="Calibri" panose="020F0502020204030204" pitchFamily="34" charset="0"/>
                <a:ea typeface="Calibri" panose="020F0502020204030204" pitchFamily="34" charset="0"/>
                <a:cs typeface="Times New Roman" panose="02020603050405020304" pitchFamily="18" charset="0"/>
              </a:rPr>
              <a:t>Parents can view their updates and also their reminders for appointments</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0811386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904501-AACF-6968-E72D-5AF110A4A46E}"/>
              </a:ext>
            </a:extLst>
          </p:cNvPr>
          <p:cNvSpPr txBox="1"/>
          <p:nvPr/>
        </p:nvSpPr>
        <p:spPr>
          <a:xfrm>
            <a:off x="139148" y="0"/>
            <a:ext cx="11976652" cy="7110408"/>
          </a:xfrm>
          <a:prstGeom prst="rect">
            <a:avLst/>
          </a:prstGeom>
          <a:noFill/>
        </p:spPr>
        <p:txBody>
          <a:bodyPr wrap="square">
            <a:spAutoFit/>
          </a:bodyPr>
          <a:lstStyle/>
          <a:p>
            <a:pPr lvl="0">
              <a:lnSpc>
                <a:spcPct val="107000"/>
              </a:lnSpc>
              <a:spcAft>
                <a:spcPts val="800"/>
              </a:spcAft>
            </a:pPr>
            <a:r>
              <a:rPr lang="en-IN" sz="2800" b="1" i="1" u="sng" dirty="0">
                <a:effectLst/>
                <a:latin typeface="Calibri" panose="020F0502020204030204" pitchFamily="34" charset="0"/>
                <a:ea typeface="Calibri" panose="020F0502020204030204" pitchFamily="34" charset="0"/>
                <a:cs typeface="Times New Roman" panose="02020603050405020304" pitchFamily="18" charset="0"/>
              </a:rPr>
              <a:t>System Description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indent="457200">
              <a:lnSpc>
                <a:spcPct val="106000"/>
              </a:lnSpc>
              <a:spcAft>
                <a:spcPts val="800"/>
              </a:spcAft>
            </a:pPr>
            <a:r>
              <a:rPr lang="en-US" sz="2800" dirty="0">
                <a:effectLst/>
                <a:latin typeface="Calibri" panose="020F0502020204030204" pitchFamily="34" charset="0"/>
                <a:ea typeface="Calibri" panose="020F0502020204030204" pitchFamily="34" charset="0"/>
                <a:cs typeface="Calibri" panose="020F0502020204030204" pitchFamily="34" charset="0"/>
              </a:rPr>
              <a:t>The system comprises 2 major modules with their sub-modules as follows: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400"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800" b="1" u="sng" dirty="0">
                <a:effectLst/>
                <a:latin typeface="Calibri" panose="020F0502020204030204" pitchFamily="34" charset="0"/>
                <a:ea typeface="Calibri" panose="020F0502020204030204" pitchFamily="34" charset="0"/>
                <a:cs typeface="Calibri" panose="020F0502020204030204" pitchFamily="34" charset="0"/>
              </a:rPr>
              <a:t>ADMIN: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6000"/>
              </a:lnSpc>
            </a:pPr>
            <a:r>
              <a:rPr lang="en-IN" sz="2800" b="1" u="none" strike="noStrike"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Login: </a:t>
            </a:r>
            <a:r>
              <a:rPr lang="en-IN" sz="2800" dirty="0">
                <a:effectLst/>
                <a:latin typeface="Calibri" panose="020F0502020204030204" pitchFamily="34" charset="0"/>
                <a:ea typeface="Calibri" panose="020F0502020204030204" pitchFamily="34" charset="0"/>
                <a:cs typeface="Calibri" panose="020F0502020204030204" pitchFamily="34" charset="0"/>
              </a:rPr>
              <a:t>The admin can login to the system using a username and password.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View Hospitals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6000"/>
              </a:lnSpc>
              <a:buFont typeface="Courier New" panose="02070309020205020404" pitchFamily="49" charset="0"/>
              <a:buChar char="o"/>
            </a:pPr>
            <a:r>
              <a:rPr lang="en-IN" sz="2800" b="1" dirty="0">
                <a:effectLst/>
                <a:latin typeface="Calibri" panose="020F0502020204030204" pitchFamily="34" charset="0"/>
                <a:ea typeface="Calibri" panose="020F0502020204030204" pitchFamily="34" charset="0"/>
                <a:cs typeface="Calibri" panose="020F0502020204030204" pitchFamily="34" charset="0"/>
              </a:rPr>
              <a:t>Accept/Reject: </a:t>
            </a:r>
            <a:r>
              <a:rPr lang="en-IN" sz="2800" dirty="0">
                <a:effectLst/>
                <a:latin typeface="Calibri" panose="020F0502020204030204" pitchFamily="34" charset="0"/>
                <a:ea typeface="Calibri" panose="020F0502020204030204" pitchFamily="34" charset="0"/>
                <a:cs typeface="Calibri" panose="020F0502020204030204" pitchFamily="34" charset="0"/>
              </a:rPr>
              <a:t>They can view all the hospital details. Also, they can accept or reject the hospital’s application.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View Child Data:</a:t>
            </a:r>
            <a:r>
              <a:rPr lang="en-IN" sz="2800" dirty="0">
                <a:effectLst/>
                <a:latin typeface="Calibri" panose="020F0502020204030204" pitchFamily="34" charset="0"/>
                <a:ea typeface="Calibri" panose="020F0502020204030204" pitchFamily="34" charset="0"/>
                <a:cs typeface="Calibri" panose="020F0502020204030204" pitchFamily="34" charset="0"/>
              </a:rPr>
              <a:t> The admin can view all the child data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Appointment Details:</a:t>
            </a:r>
            <a:r>
              <a:rPr lang="en-IN" sz="2800" dirty="0">
                <a:effectLst/>
                <a:latin typeface="Calibri" panose="020F0502020204030204" pitchFamily="34" charset="0"/>
                <a:ea typeface="Calibri" panose="020F0502020204030204" pitchFamily="34" charset="0"/>
                <a:cs typeface="Calibri" panose="020F0502020204030204" pitchFamily="34" charset="0"/>
              </a:rPr>
              <a:t> All the appointment details can be viewed by the admin.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Export/Save Data:</a:t>
            </a:r>
            <a:r>
              <a:rPr lang="en-IN" sz="2800" dirty="0">
                <a:effectLst/>
                <a:latin typeface="Calibri" panose="020F0502020204030204" pitchFamily="34" charset="0"/>
                <a:ea typeface="Calibri" panose="020F0502020204030204" pitchFamily="34" charset="0"/>
                <a:cs typeface="Calibri" panose="020F0502020204030204" pitchFamily="34" charset="0"/>
              </a:rPr>
              <a:t> All the appointment data can be saved or exported by the admin.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800"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54022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70D4EF-3F48-8AB8-DC6A-BCAD3C1392D9}"/>
              </a:ext>
            </a:extLst>
          </p:cNvPr>
          <p:cNvSpPr txBox="1"/>
          <p:nvPr/>
        </p:nvSpPr>
        <p:spPr>
          <a:xfrm>
            <a:off x="0" y="328163"/>
            <a:ext cx="12419860" cy="6113020"/>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PARENT: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Register: </a:t>
            </a:r>
            <a:r>
              <a:rPr lang="en-IN" sz="2800" dirty="0">
                <a:effectLst/>
                <a:latin typeface="Calibri" panose="020F0502020204030204" pitchFamily="34" charset="0"/>
                <a:ea typeface="Calibri" panose="020F0502020204030204" pitchFamily="34" charset="0"/>
                <a:cs typeface="Calibri" panose="020F0502020204030204" pitchFamily="34" charset="0"/>
              </a:rPr>
              <a:t>Parents will need to register first to log in with their basic details.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Login: </a:t>
            </a:r>
            <a:r>
              <a:rPr lang="en-IN" sz="2800" dirty="0">
                <a:effectLst/>
                <a:latin typeface="Calibri" panose="020F0502020204030204" pitchFamily="34" charset="0"/>
                <a:ea typeface="Calibri" panose="020F0502020204030204" pitchFamily="34" charset="0"/>
                <a:cs typeface="Calibri" panose="020F0502020204030204" pitchFamily="34" charset="0"/>
              </a:rPr>
              <a:t>They can log in using their username and password.</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My profile: </a:t>
            </a:r>
            <a:r>
              <a:rPr lang="en-IN" sz="2800" dirty="0">
                <a:effectLst/>
                <a:latin typeface="Calibri" panose="020F0502020204030204" pitchFamily="34" charset="0"/>
                <a:ea typeface="Calibri" panose="020F0502020204030204" pitchFamily="34" charset="0"/>
                <a:cs typeface="Calibri" panose="020F0502020204030204" pitchFamily="34" charset="0"/>
              </a:rPr>
              <a:t>Also, they can make necessary changes to their profile details.</a:t>
            </a:r>
            <a:r>
              <a:rPr lang="en-IN" sz="2800" b="1" dirty="0">
                <a:effectLst/>
                <a:latin typeface="Calibri" panose="020F0502020204030204" pitchFamily="34" charset="0"/>
                <a:ea typeface="Calibri" panose="020F0502020204030204" pitchFamily="34" charset="0"/>
                <a:cs typeface="Calibri" panose="020F0502020204030204" pitchFamily="34"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Change Password: </a:t>
            </a:r>
            <a:r>
              <a:rPr lang="en-IN" sz="2800" dirty="0">
                <a:effectLst/>
                <a:latin typeface="Calibri" panose="020F0502020204030204" pitchFamily="34" charset="0"/>
                <a:ea typeface="Calibri" panose="020F0502020204030204" pitchFamily="34" charset="0"/>
                <a:cs typeface="Calibri" panose="020F0502020204030204" pitchFamily="34" charset="0"/>
              </a:rPr>
              <a:t>They can easily change their old password to the new one.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Manage Child data: </a:t>
            </a:r>
            <a:r>
              <a:rPr lang="en-IN" sz="2800" dirty="0">
                <a:effectLst/>
                <a:latin typeface="Calibri" panose="020F0502020204030204" pitchFamily="34" charset="0"/>
                <a:ea typeface="Calibri" panose="020F0502020204030204" pitchFamily="34" charset="0"/>
                <a:cs typeface="Calibri" panose="020F0502020204030204" pitchFamily="34" charset="0"/>
              </a:rPr>
              <a:t>Parents can manage and view their child’s data, and also, they can add, update and delete these data.</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Book Appointment:</a:t>
            </a:r>
            <a:r>
              <a:rPr lang="en-IN" sz="2800" dirty="0">
                <a:effectLst/>
                <a:latin typeface="Calibri" panose="020F0502020204030204" pitchFamily="34" charset="0"/>
                <a:ea typeface="Calibri" panose="020F0502020204030204" pitchFamily="34" charset="0"/>
                <a:cs typeface="Calibri" panose="020F0502020204030204" pitchFamily="34" charset="0"/>
              </a:rPr>
              <a:t> They can further book an appointment for their child’s vaccination.</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View Appointments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6000"/>
              </a:lnSpc>
              <a:buFont typeface="Courier New" panose="02070309020205020404" pitchFamily="49" charset="0"/>
              <a:buChar char="o"/>
            </a:pPr>
            <a:r>
              <a:rPr lang="en-IN" sz="2800" b="1" dirty="0">
                <a:effectLst/>
                <a:latin typeface="Calibri" panose="020F0502020204030204" pitchFamily="34" charset="0"/>
                <a:ea typeface="Calibri" panose="020F0502020204030204" pitchFamily="34" charset="0"/>
                <a:cs typeface="Calibri" panose="020F0502020204030204" pitchFamily="34" charset="0"/>
              </a:rPr>
              <a:t>Details &amp; Status: </a:t>
            </a:r>
            <a:r>
              <a:rPr lang="en-IN" sz="2800" dirty="0">
                <a:effectLst/>
                <a:latin typeface="Calibri" panose="020F0502020204030204" pitchFamily="34" charset="0"/>
                <a:ea typeface="Calibri" panose="020F0502020204030204" pitchFamily="34" charset="0"/>
                <a:cs typeface="Calibri" panose="020F0502020204030204" pitchFamily="34" charset="0"/>
              </a:rPr>
              <a:t>Parents can view appointment details and their status.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Symbol" panose="05050102010706020507" pitchFamily="18" charset="2"/>
              <a:buChar char=""/>
            </a:pPr>
            <a:r>
              <a:rPr lang="en-IN" sz="2800" b="1" dirty="0">
                <a:effectLst/>
                <a:latin typeface="Calibri" panose="020F0502020204030204" pitchFamily="34" charset="0"/>
                <a:ea typeface="Calibri" panose="020F0502020204030204" pitchFamily="34" charset="0"/>
                <a:cs typeface="Calibri" panose="020F0502020204030204" pitchFamily="34" charset="0"/>
              </a:rPr>
              <a:t>My Reminder: </a:t>
            </a:r>
            <a:r>
              <a:rPr lang="en-IN" sz="2800" dirty="0">
                <a:effectLst/>
                <a:latin typeface="Calibri" panose="020F0502020204030204" pitchFamily="34" charset="0"/>
                <a:ea typeface="Calibri" panose="020F0502020204030204" pitchFamily="34" charset="0"/>
                <a:cs typeface="Calibri" panose="020F0502020204030204" pitchFamily="34" charset="0"/>
              </a:rPr>
              <a:t>They can also view the appointment reminder.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800" dirty="0">
                <a:effectLst/>
                <a:latin typeface="Calibri" panose="020F0502020204030204" pitchFamily="34" charset="0"/>
                <a:ea typeface="Calibri" panose="020F0502020204030204" pitchFamily="34" charset="0"/>
                <a:cs typeface="Calibri" panose="020F0502020204030204" pitchFamily="34"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7199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3A510C-1830-BB85-B938-406602DBD95E}"/>
              </a:ext>
            </a:extLst>
          </p:cNvPr>
          <p:cNvSpPr>
            <a:spLocks noChangeArrowheads="1"/>
          </p:cNvSpPr>
          <p:nvPr/>
        </p:nvSpPr>
        <p:spPr bwMode="auto">
          <a:xfrm>
            <a:off x="390144" y="4258997"/>
            <a:ext cx="12145634" cy="457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A2858CF8-0707-B0FD-4252-B70F1F9B0083}"/>
              </a:ext>
            </a:extLst>
          </p:cNvPr>
          <p:cNvSpPr txBox="1"/>
          <p:nvPr/>
        </p:nvSpPr>
        <p:spPr>
          <a:xfrm>
            <a:off x="221942" y="62144"/>
            <a:ext cx="11176986" cy="6578147"/>
          </a:xfrm>
          <a:prstGeom prst="rect">
            <a:avLst/>
          </a:prstGeom>
          <a:noFill/>
        </p:spPr>
        <p:txBody>
          <a:bodyPr wrap="square">
            <a:spAutoFit/>
          </a:bodyPr>
          <a:lstStyle/>
          <a:p>
            <a:pPr>
              <a:lnSpc>
                <a:spcPct val="107000"/>
              </a:lnSpc>
              <a:spcAft>
                <a:spcPts val="800"/>
              </a:spcAft>
            </a:pPr>
            <a:r>
              <a:rPr lang="en-IN" sz="28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Tools/platform, languages to be used:</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Hardware requirements: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Processor    :  Intel core i3 processor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RAM            :  4GB RAM / higher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Hard disk    : 100GB above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Windows    : 10 or above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Software requirements: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Frond end       :  HTML, CSS, BOOTSTRAP,    JAVASCRIPT.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Back end         : MYSQL</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Platform         : Window OS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buFont typeface="Symbol" panose="05050102010706020507" pitchFamily="18" charset="2"/>
              <a:buChar char=""/>
            </a:pPr>
            <a:r>
              <a:rPr lang="en-IN"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Webserver     : ApacheS2 server, Xamp server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b="1" u="sng"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163470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1DD05F-CF0D-3862-D010-6C18D20D84AD}"/>
              </a:ext>
            </a:extLst>
          </p:cNvPr>
          <p:cNvSpPr txBox="1"/>
          <p:nvPr/>
        </p:nvSpPr>
        <p:spPr>
          <a:xfrm>
            <a:off x="310719" y="88777"/>
            <a:ext cx="9008615" cy="3002360"/>
          </a:xfrm>
          <a:prstGeom prst="rect">
            <a:avLst/>
          </a:prstGeom>
          <a:noFill/>
        </p:spPr>
        <p:txBody>
          <a:bodyPr wrap="square">
            <a:spAutoFit/>
          </a:bodyPr>
          <a:lstStyle/>
          <a:p>
            <a:pPr>
              <a:lnSpc>
                <a:spcPct val="107000"/>
              </a:lnSpc>
              <a:spcAft>
                <a:spcPts val="800"/>
              </a:spcAft>
            </a:pPr>
            <a:r>
              <a:rPr lang="en-IN" sz="2800" b="1" u="sng" dirty="0">
                <a:effectLst/>
                <a:latin typeface="Calibri" panose="020F0502020204030204" pitchFamily="34" charset="0"/>
                <a:ea typeface="Calibri" panose="020F0502020204030204" pitchFamily="34" charset="0"/>
                <a:cs typeface="Times New Roman" panose="02020603050405020304" pitchFamily="18" charset="0"/>
              </a:rPr>
              <a:t>Limitations of the project: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5000"/>
              </a:lnSpc>
              <a:buFont typeface="Symbol" panose="05050102010706020507" pitchFamily="18" charset="2"/>
              <a:buChar char=""/>
            </a:pPr>
            <a:r>
              <a:rPr lang="en-IN" sz="2800" dirty="0">
                <a:effectLst/>
                <a:latin typeface="Calibri" panose="020F0502020204030204" pitchFamily="34" charset="0"/>
                <a:ea typeface="Calibri" panose="020F0502020204030204" pitchFamily="34" charset="0"/>
                <a:cs typeface="Times New Roman" panose="02020603050405020304" pitchFamily="18" charset="0"/>
              </a:rPr>
              <a:t>Parents will need to upload their child’s data correctly, otherwise, it will be led to the wrong output.</a:t>
            </a:r>
          </a:p>
          <a:p>
            <a:pPr marL="342900" lvl="0" indent="-342900">
              <a:lnSpc>
                <a:spcPct val="105000"/>
              </a:lnSpc>
              <a:spcAft>
                <a:spcPts val="800"/>
              </a:spcAft>
              <a:buFont typeface="Symbol" panose="05050102010706020507" pitchFamily="18" charset="2"/>
              <a:buChar char=""/>
            </a:pPr>
            <a:r>
              <a:rPr lang="en-IN" sz="2800" dirty="0">
                <a:effectLst/>
                <a:latin typeface="Calibri" panose="020F0502020204030204" pitchFamily="34" charset="0"/>
                <a:ea typeface="Calibri" panose="020F0502020204030204" pitchFamily="34" charset="0"/>
                <a:cs typeface="Times New Roman" panose="02020603050405020304" pitchFamily="18" charset="0"/>
              </a:rPr>
              <a:t>To keep the database up to date regular update is needed</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5000"/>
              </a:lnSpc>
              <a:spcAft>
                <a:spcPts val="800"/>
              </a:spcAft>
              <a:buFont typeface="Symbol" panose="05050102010706020507" pitchFamily="18" charset="2"/>
              <a:buChar char=""/>
            </a:pPr>
            <a:r>
              <a:rPr lang="en-IN" sz="2800" dirty="0">
                <a:effectLst/>
                <a:latin typeface="Calibri" panose="020F0502020204030204" pitchFamily="34" charset="0"/>
                <a:ea typeface="Calibri" panose="020F0502020204030204" pitchFamily="34" charset="0"/>
                <a:cs typeface="Times New Roman" panose="02020603050405020304" pitchFamily="18" charset="0"/>
              </a:rPr>
              <a:t>There  is no particular booking of the system for child vaccines </a:t>
            </a:r>
          </a:p>
        </p:txBody>
      </p:sp>
      <p:sp>
        <p:nvSpPr>
          <p:cNvPr id="5" name="TextBox 4">
            <a:extLst>
              <a:ext uri="{FF2B5EF4-FFF2-40B4-BE49-F238E27FC236}">
                <a16:creationId xmlns:a16="http://schemas.microsoft.com/office/drawing/2014/main" id="{423FE452-4CF3-9749-D4B1-458A4DE268F1}"/>
              </a:ext>
            </a:extLst>
          </p:cNvPr>
          <p:cNvSpPr txBox="1"/>
          <p:nvPr/>
        </p:nvSpPr>
        <p:spPr>
          <a:xfrm>
            <a:off x="417251" y="3091137"/>
            <a:ext cx="8902083" cy="2582182"/>
          </a:xfrm>
          <a:prstGeom prst="rect">
            <a:avLst/>
          </a:prstGeom>
          <a:noFill/>
        </p:spPr>
        <p:txBody>
          <a:bodyPr wrap="square">
            <a:spAutoFit/>
          </a:bodyPr>
          <a:lstStyle/>
          <a:p>
            <a:pPr>
              <a:lnSpc>
                <a:spcPct val="107000"/>
              </a:lnSpc>
              <a:spcAft>
                <a:spcPts val="800"/>
              </a:spcAft>
              <a:tabLst>
                <a:tab pos="2180590" algn="l"/>
              </a:tabLst>
            </a:pPr>
            <a:r>
              <a:rPr lang="en-IN" sz="2800" b="1" u="sng" dirty="0">
                <a:effectLst/>
                <a:latin typeface="Calibri" panose="020F0502020204030204" pitchFamily="34" charset="0"/>
                <a:ea typeface="Calibri" panose="020F0502020204030204" pitchFamily="34" charset="0"/>
                <a:cs typeface="Times New Roman" panose="02020603050405020304" pitchFamily="18" charset="0"/>
              </a:rPr>
              <a:t>Scope or future application of the project: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800" dirty="0">
                <a:effectLst/>
                <a:latin typeface="Calibri" panose="020F0502020204030204" pitchFamily="34" charset="0"/>
                <a:ea typeface="Calibri" panose="020F0502020204030204" pitchFamily="34" charset="0"/>
                <a:cs typeface="Times New Roman" panose="02020603050405020304" pitchFamily="18" charset="0"/>
              </a:rPr>
              <a:t>In future Android application can be developed.</a:t>
            </a:r>
          </a:p>
          <a:p>
            <a:pPr marL="342900" lvl="0" indent="-342900" algn="just">
              <a:lnSpc>
                <a:spcPct val="107000"/>
              </a:lnSpc>
              <a:buFont typeface="Symbol" panose="05050102010706020507" pitchFamily="18" charset="2"/>
              <a:buChar char=""/>
            </a:pPr>
            <a:r>
              <a:rPr lang="en-IN" sz="2800" dirty="0">
                <a:effectLst/>
                <a:latin typeface="Calibri" panose="020F0502020204030204" pitchFamily="34" charset="0"/>
                <a:ea typeface="Calibri" panose="020F0502020204030204" pitchFamily="34" charset="0"/>
                <a:cs typeface="Times New Roman" panose="02020603050405020304" pitchFamily="18" charset="0"/>
              </a:rPr>
              <a:t>Home schedule of vaccine can be added.</a:t>
            </a:r>
          </a:p>
          <a:p>
            <a:pPr marL="342900" lvl="0" indent="-342900" algn="just">
              <a:lnSpc>
                <a:spcPct val="107000"/>
              </a:lnSpc>
              <a:spcAft>
                <a:spcPts val="800"/>
              </a:spcAft>
              <a:buFont typeface="Symbol" panose="05050102010706020507" pitchFamily="18" charset="2"/>
              <a:buChar char=""/>
              <a:tabLst>
                <a:tab pos="2180590" algn="l"/>
              </a:tabLst>
            </a:pPr>
            <a:r>
              <a:rPr lang="en-IN" sz="2800" dirty="0">
                <a:effectLst/>
                <a:latin typeface="Calibri" panose="020F0502020204030204" pitchFamily="34" charset="0"/>
                <a:ea typeface="Calibri" panose="020F0502020204030204" pitchFamily="34" charset="0"/>
                <a:cs typeface="Times New Roman" panose="02020603050405020304" pitchFamily="18" charset="0"/>
              </a:rPr>
              <a:t>More modules on chatbot can be added. </a:t>
            </a:r>
          </a:p>
          <a:p>
            <a:pPr marL="914400" indent="457200">
              <a:lnSpc>
                <a:spcPct val="107000"/>
              </a:lnSpc>
              <a:spcAft>
                <a:spcPts val="800"/>
              </a:spcAft>
            </a:pPr>
            <a:r>
              <a:rPr lang="en-IN" sz="2800" u="none" strike="noStrike" dirty="0">
                <a:effectLst/>
                <a:latin typeface="Calibri" panose="020F0502020204030204" pitchFamily="34" charset="0"/>
                <a:ea typeface="Calibri" panose="020F0502020204030204" pitchFamily="34" charset="0"/>
                <a:cs typeface="Times New Roman" panose="02020603050405020304" pitchFamily="18"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38458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1080P, 2K, 4K, 5K HD wallpapers free download | Wallpaper Flare">
            <a:extLst>
              <a:ext uri="{FF2B5EF4-FFF2-40B4-BE49-F238E27FC236}">
                <a16:creationId xmlns:a16="http://schemas.microsoft.com/office/drawing/2014/main" id="{A2A31D69-E62D-56BE-815C-369EEA5A3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893" y="165430"/>
            <a:ext cx="8872150" cy="5882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225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175</TotalTime>
  <Words>1247</Words>
  <Application>Microsoft Office PowerPoint</Application>
  <PresentationFormat>Widescreen</PresentationFormat>
  <Paragraphs>148</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Courier New</vt:lpstr>
      <vt:lpstr>Gill Sans MT</vt:lpstr>
      <vt:lpstr>Open Sans</vt:lpstr>
      <vt:lpstr>Symbol</vt:lpstr>
      <vt:lpstr>Trebuchet MS</vt:lpstr>
      <vt:lpstr>var(--font-1-bold)</vt:lpstr>
      <vt:lpstr>Wingdings</vt:lpstr>
      <vt:lpstr>Gallery</vt:lpstr>
      <vt:lpstr>CHILD VACCINATION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 VACCINATION MANAGEMENT</dc:title>
  <dc:creator>kavya hegde</dc:creator>
  <cp:lastModifiedBy>kavya hegde</cp:lastModifiedBy>
  <cp:revision>9</cp:revision>
  <dcterms:created xsi:type="dcterms:W3CDTF">2022-11-24T16:53:41Z</dcterms:created>
  <dcterms:modified xsi:type="dcterms:W3CDTF">2023-01-23T15:18:13Z</dcterms:modified>
</cp:coreProperties>
</file>